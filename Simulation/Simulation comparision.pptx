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8" r:id="rId1"/>
  </p:sldMasterIdLst>
  <p:sldIdLst>
    <p:sldId id="256" r:id="rId2"/>
    <p:sldId id="260" r:id="rId3"/>
    <p:sldId id="259" r:id="rId4"/>
    <p:sldId id="257" r:id="rId5"/>
    <p:sldId id="258" r:id="rId6"/>
    <p:sldId id="265" r:id="rId7"/>
    <p:sldId id="262" r:id="rId8"/>
    <p:sldId id="272" r:id="rId9"/>
    <p:sldId id="271" r:id="rId10"/>
    <p:sldId id="264" r:id="rId11"/>
    <p:sldId id="267" r:id="rId12"/>
    <p:sldId id="270" r:id="rId13"/>
    <p:sldId id="268" r:id="rId14"/>
    <p:sldId id="269" r:id="rId15"/>
    <p:sldId id="266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7"/>
  </p:normalViewPr>
  <p:slideViewPr>
    <p:cSldViewPr snapToGrid="0">
      <p:cViewPr varScale="1">
        <p:scale>
          <a:sx n="90" d="100"/>
          <a:sy n="90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12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9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46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0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2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6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6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30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2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0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7" r:id="rId6"/>
    <p:sldLayoutId id="2147483782" r:id="rId7"/>
    <p:sldLayoutId id="2147483783" r:id="rId8"/>
    <p:sldLayoutId id="2147483784" r:id="rId9"/>
    <p:sldLayoutId id="2147483786" r:id="rId10"/>
    <p:sldLayoutId id="214748378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C0F67-CE70-298A-6C3E-85972399D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 fontScale="90000"/>
          </a:bodyPr>
          <a:lstStyle/>
          <a:p>
            <a:r>
              <a:rPr lang="en-US" sz="4400" dirty="0"/>
              <a:t>Standalone simulations (Glass Simulations)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1D9D1-D6A0-62DE-E2C1-F2E6F2059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950" y="4532626"/>
            <a:ext cx="3250068" cy="1140304"/>
          </a:xfrm>
        </p:spPr>
        <p:txBody>
          <a:bodyPr anchor="b">
            <a:normAutofit/>
          </a:bodyPr>
          <a:lstStyle/>
          <a:p>
            <a:r>
              <a:rPr lang="en-US"/>
              <a:t>Bhavya Singhal, Shin-Shan Eiko yu</a:t>
            </a:r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Connected sticks shaping polygons background">
            <a:extLst>
              <a:ext uri="{FF2B5EF4-FFF2-40B4-BE49-F238E27FC236}">
                <a16:creationId xmlns:a16="http://schemas.microsoft.com/office/drawing/2014/main" id="{DC081524-2A3F-7200-5922-0C6233DA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39" r="34468" b="-2"/>
          <a:stretch/>
        </p:blipFill>
        <p:spPr>
          <a:xfrm>
            <a:off x="4444723" y="1031001"/>
            <a:ext cx="2481776" cy="487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60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40C7F-2C17-E6C3-8C34-C5C6D3408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2E80CB-5150-3FC1-9D11-5E8718E3A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B837AF-0B06-CDA5-2E2A-4830B5A0C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731A4-B61A-FAFB-7DC6-B7C27EC97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48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2D3134-CF88-D96C-AF95-1D605366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with green lines and numbers&#10;&#10;AI-generated content may be incorrect.">
            <a:extLst>
              <a:ext uri="{FF2B5EF4-FFF2-40B4-BE49-F238E27FC236}">
                <a16:creationId xmlns:a16="http://schemas.microsoft.com/office/drawing/2014/main" id="{5CFDE203-07D4-EA6E-8DB1-8FF41DE40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8" y="2115190"/>
            <a:ext cx="5635398" cy="3826904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6255C5AA-F224-CB00-1E1B-0A0AC4D81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541" y="2062003"/>
            <a:ext cx="6434688" cy="38800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000824-B031-C8A4-4DAE-DC8DE189B739}"/>
              </a:ext>
            </a:extLst>
          </p:cNvPr>
          <p:cNvSpPr txBox="1"/>
          <p:nvPr/>
        </p:nvSpPr>
        <p:spPr>
          <a:xfrm>
            <a:off x="4443811" y="6269805"/>
            <a:ext cx="3257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(Fraction of Deposited Energy)</a:t>
            </a:r>
          </a:p>
        </p:txBody>
      </p:sp>
    </p:spTree>
    <p:extLst>
      <p:ext uri="{BB962C8B-B14F-4D97-AF65-F5344CB8AC3E}">
        <p14:creationId xmlns:p14="http://schemas.microsoft.com/office/powerpoint/2010/main" val="272491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7AD31-5908-FCA1-53B8-42196D4E8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7FBDCD-D3BE-A9CF-9238-BB329D7B3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/>
              <a:t>Master vs V1.0.0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22749ED0-CD39-3202-2091-20AE6A3AD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" y="2254457"/>
            <a:ext cx="5899391" cy="4006177"/>
          </a:xfrm>
          <a:prstGeom prst="rect">
            <a:avLst/>
          </a:prstGeom>
        </p:spPr>
      </p:pic>
      <p:pic>
        <p:nvPicPr>
          <p:cNvPr id="14" name="Picture 13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585DF95E-8D04-48B0-D5DD-9C8F9559C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044" y="2404677"/>
            <a:ext cx="6335098" cy="38200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E38D0B-6BDE-A7A5-B714-5BB19A28E7FA}"/>
              </a:ext>
            </a:extLst>
          </p:cNvPr>
          <p:cNvSpPr txBox="1"/>
          <p:nvPr/>
        </p:nvSpPr>
        <p:spPr>
          <a:xfrm>
            <a:off x="4561629" y="6269805"/>
            <a:ext cx="3021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(Cherenkov vs Scintillation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82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EC2B2-3A57-C6CF-C214-4EB00728B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/>
              <a:t>Master vs V1.0.0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27997BB6-3AD9-1DAE-F804-43266CD2E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023" y="2126660"/>
            <a:ext cx="6471175" cy="3898883"/>
          </a:xfrm>
          <a:prstGeom prst="rect">
            <a:avLst/>
          </a:prstGeom>
        </p:spPr>
      </p:pic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5A4C4601-72B0-F585-C093-4F4E287CD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67" y="1998873"/>
            <a:ext cx="5940249" cy="4039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D73ED4-25E4-E70B-BA97-AF92AE9CBB2F}"/>
              </a:ext>
            </a:extLst>
          </p:cNvPr>
          <p:cNvSpPr txBox="1"/>
          <p:nvPr/>
        </p:nvSpPr>
        <p:spPr>
          <a:xfrm>
            <a:off x="4277894" y="6269805"/>
            <a:ext cx="358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(Cherenkov vs EM object fraction)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24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8AFF7-CE43-6640-A476-B8344B8DC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07374-FC85-EEFA-532D-CD2256DB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/>
              <a:t>Master vs V1.0.0</a:t>
            </a:r>
            <a:r>
              <a:rPr lang="en-US" sz="2200" dirty="0"/>
              <a:t> 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aph with blue dots&#10;&#10;AI-generated content may be incorrect.">
            <a:extLst>
              <a:ext uri="{FF2B5EF4-FFF2-40B4-BE49-F238E27FC236}">
                <a16:creationId xmlns:a16="http://schemas.microsoft.com/office/drawing/2014/main" id="{E0C6C327-B69A-FEF6-B936-6A26312B7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198" y="2519219"/>
            <a:ext cx="6442484" cy="38815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377627-0D26-F2A3-A2B5-0FA06C787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68179" y="1170784"/>
            <a:ext cx="4270165" cy="6235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D0E0FA-D8D2-4E1D-6DE2-3286CD6910CA}"/>
              </a:ext>
            </a:extLst>
          </p:cNvPr>
          <p:cNvSpPr txBox="1"/>
          <p:nvPr/>
        </p:nvSpPr>
        <p:spPr>
          <a:xfrm>
            <a:off x="4218587" y="6269805"/>
            <a:ext cx="3708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(Scintillation vs EM object fraction)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27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CD1A5-5DAE-E538-DF86-303B92B48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4CDF86-4912-9D19-0BDE-C8FD93B26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80C773A-9ED5-F0C2-87A2-483E589ED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5CB91-92CA-A303-8B88-2926AE0C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6"/>
            <a:ext cx="10208830" cy="89085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4400" dirty="0"/>
              <a:t>Master vs V1.0.0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2C4F09-9F80-9239-DA15-000BA3179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80DBCF84-09A2-0881-78C9-D074DB6F7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76" y="2365946"/>
            <a:ext cx="6070984" cy="4117104"/>
          </a:xfrm>
          <a:prstGeom prst="rect">
            <a:avLst/>
          </a:prstGeom>
        </p:spPr>
      </p:pic>
      <p:pic>
        <p:nvPicPr>
          <p:cNvPr id="8" name="Picture 7" descr="A graph with a green line and blue line&#10;&#10;AI-generated content may be incorrect.">
            <a:extLst>
              <a:ext uri="{FF2B5EF4-FFF2-40B4-BE49-F238E27FC236}">
                <a16:creationId xmlns:a16="http://schemas.microsoft.com/office/drawing/2014/main" id="{0722A9A0-D778-52E4-9978-A1AA5BAB4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38" y="2398132"/>
            <a:ext cx="6022559" cy="408426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B760BA3-EC92-8E64-0B75-248E9B245BCD}"/>
              </a:ext>
            </a:extLst>
          </p:cNvPr>
          <p:cNvSpPr txBox="1"/>
          <p:nvPr/>
        </p:nvSpPr>
        <p:spPr>
          <a:xfrm>
            <a:off x="2778292" y="6269805"/>
            <a:ext cx="6588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(Cherenkov(green) and Scintillation(blue) vs EM object fraction)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66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5EBF6-CDFF-C0E2-9A9F-46726394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277C4-5628-164B-44EC-FE47F8281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A8D1203-89B8-CCE4-9F97-D25A50D0C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B8F23-1D59-82AE-64E6-D2D443E16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/>
              <a:t>Master vs V1.0.0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CF8608-2B2A-159A-7497-DAEB6AB34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with green lines&#10;&#10;AI-generated content may be incorrect.">
            <a:extLst>
              <a:ext uri="{FF2B5EF4-FFF2-40B4-BE49-F238E27FC236}">
                <a16:creationId xmlns:a16="http://schemas.microsoft.com/office/drawing/2014/main" id="{FA645AAE-9473-474D-7684-6D6BBC622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4" y="2539887"/>
            <a:ext cx="5495911" cy="3732180"/>
          </a:xfrm>
          <a:prstGeom prst="rect">
            <a:avLst/>
          </a:prstGeom>
        </p:spPr>
      </p:pic>
      <p:pic>
        <p:nvPicPr>
          <p:cNvPr id="8" name="Picture 7" descr="A graph with green and black lines&#10;&#10;AI-generated content may be incorrect.">
            <a:extLst>
              <a:ext uri="{FF2B5EF4-FFF2-40B4-BE49-F238E27FC236}">
                <a16:creationId xmlns:a16="http://schemas.microsoft.com/office/drawing/2014/main" id="{A879EF6D-A246-AD5C-E1F0-C4407EFF7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902" y="2504998"/>
            <a:ext cx="6257703" cy="377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4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9EB6-B90A-801B-5EDA-B2C88067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 studies for Glass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CC2C7-C3C8-F4EE-974A-B7B4A5E09AD4}"/>
              </a:ext>
            </a:extLst>
          </p:cNvPr>
          <p:cNvSpPr txBox="1"/>
          <p:nvPr/>
        </p:nvSpPr>
        <p:spPr>
          <a:xfrm>
            <a:off x="640079" y="2286001"/>
            <a:ext cx="107470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Tried reproducing the simulation plots for PbWO4 and compared with  the ones in </a:t>
            </a:r>
            <a:r>
              <a:rPr lang="en-US" dirty="0" err="1"/>
              <a:t>arxiv</a:t>
            </a:r>
            <a:r>
              <a:rPr lang="en-US" dirty="0"/>
              <a:t>:</a:t>
            </a:r>
            <a:r>
              <a:rPr lang="en-US" sz="1800" dirty="0"/>
              <a:t> 2501.15329v3.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simulations were generated for 2000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also generated those plots for a template Glass(ABS) description for ECAL, replacing PbWO4.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Glass_ABS is defined for Glass Scintillator.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Scaled down the Refractive index for ABS using PBWO4 R-index.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Rest of the parameters are kept similar to PBWO4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760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6E714-A60E-9181-A6CC-B6C0620FE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5720F6-975C-EB61-2CC2-55A38770B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3B8A175-49D7-1BED-B52B-F6AA13F9C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DB0EC-942E-27FB-A0A9-18C047F9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/>
              <a:t>Simulations vs 2501.15329v3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ECB0F6-5C4E-1023-D40A-45B0248EC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94411CB-79D8-D259-95E1-72B83BDEF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191" y="1971681"/>
            <a:ext cx="6173235" cy="4491110"/>
          </a:xfrm>
          <a:prstGeom prst="rect">
            <a:avLst/>
          </a:prstGeom>
        </p:spPr>
      </p:pic>
      <p:pic>
        <p:nvPicPr>
          <p:cNvPr id="10" name="Picture 9" descr="A graph with red and green points&#10;&#10;AI-generated content may be incorrect.">
            <a:extLst>
              <a:ext uri="{FF2B5EF4-FFF2-40B4-BE49-F238E27FC236}">
                <a16:creationId xmlns:a16="http://schemas.microsoft.com/office/drawing/2014/main" id="{0315B701-324E-455E-0B1C-BB47C7A2F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3764"/>
            <a:ext cx="6096000" cy="438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172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E3272-75E5-F6F9-775E-A33AF3F2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BA9C17-642E-EB2C-7447-C39E3EB6E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F81C070-5A32-0949-9564-F4C68AF1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3F14D-5C97-3D90-A875-4C1776B06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/>
              <a:t>Simulations vs 2501.15329v3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7572FB-6892-1E52-79B6-94BFFEB2D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6CD05ADB-D881-3FFC-1184-EA3A8A65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83811"/>
            <a:ext cx="5550264" cy="39883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1269A6-A3F3-0E2B-F10D-36C862747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535" y="1971682"/>
            <a:ext cx="5365674" cy="41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9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06ADD-233E-5BB2-83AD-D32593001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1E487-7318-9104-A9CC-0D323B90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Glass vs PbWO4(2000 Events)</a:t>
            </a:r>
          </a:p>
        </p:txBody>
      </p:sp>
      <p:pic>
        <p:nvPicPr>
          <p:cNvPr id="16" name="Picture 15" descr="A graph of a calorimeter&#10;&#10;AI-generated content may be incorrect.">
            <a:extLst>
              <a:ext uri="{FF2B5EF4-FFF2-40B4-BE49-F238E27FC236}">
                <a16:creationId xmlns:a16="http://schemas.microsoft.com/office/drawing/2014/main" id="{F5549321-6AB9-EDEE-FADF-F7F2C7005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56287"/>
            <a:ext cx="5233086" cy="37604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EC7BBE-1F1B-8316-4844-90D66B313957}"/>
              </a:ext>
            </a:extLst>
          </p:cNvPr>
          <p:cNvSpPr txBox="1"/>
          <p:nvPr/>
        </p:nvSpPr>
        <p:spPr>
          <a:xfrm>
            <a:off x="6915150" y="2256287"/>
            <a:ext cx="4563618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Fraction of deposited ionizing energy in 20 GeV electron showers deposited by particles Fraction of deposited ionizing energy in 20 GeV electron showers deposited by particles </a:t>
            </a:r>
            <a:endParaRPr lang="en-US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60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34BEF-3260-31F6-1DDE-AA85B5A1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C33F54-98D5-ACD0-8834-07E974892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0818D41-1FF9-FD7F-F5D4-6D4F0E675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1DCA55-C278-BE79-E92F-A5030CD08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404" y="914400"/>
            <a:ext cx="8945593" cy="948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Glass vs PbWO4(2000 Events)</a:t>
            </a:r>
          </a:p>
        </p:txBody>
      </p:sp>
      <p:pic>
        <p:nvPicPr>
          <p:cNvPr id="7" name="Picture 6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BFC6A247-D416-2A6F-6A65-ACB30F2D1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77" y="1863089"/>
            <a:ext cx="6038250" cy="4339045"/>
          </a:xfrm>
          <a:prstGeom prst="rect">
            <a:avLst/>
          </a:prstGeom>
        </p:spPr>
      </p:pic>
      <p:pic>
        <p:nvPicPr>
          <p:cNvPr id="4" name="Picture 3" descr="A graph with a blue line&#10;&#10;AI-generated content may be incorrect.">
            <a:extLst>
              <a:ext uri="{FF2B5EF4-FFF2-40B4-BE49-F238E27FC236}">
                <a16:creationId xmlns:a16="http://schemas.microsoft.com/office/drawing/2014/main" id="{2B66DF49-76E6-1C35-F9F8-97E19C82D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63089"/>
            <a:ext cx="6038250" cy="43390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DBAC30-BADE-BCE5-F0B7-1EC2108A8B8E}"/>
              </a:ext>
            </a:extLst>
          </p:cNvPr>
          <p:cNvSpPr txBox="1"/>
          <p:nvPr/>
        </p:nvSpPr>
        <p:spPr>
          <a:xfrm>
            <a:off x="2214563" y="6202134"/>
            <a:ext cx="2073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Scintillation Signal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F2423-3FF1-14A0-8F75-8EB861586BEC}"/>
              </a:ext>
            </a:extLst>
          </p:cNvPr>
          <p:cNvSpPr txBox="1"/>
          <p:nvPr/>
        </p:nvSpPr>
        <p:spPr>
          <a:xfrm>
            <a:off x="7700963" y="6244997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Cherenkov Signal</a:t>
            </a:r>
          </a:p>
        </p:txBody>
      </p:sp>
    </p:spTree>
    <p:extLst>
      <p:ext uri="{BB962C8B-B14F-4D97-AF65-F5344CB8AC3E}">
        <p14:creationId xmlns:p14="http://schemas.microsoft.com/office/powerpoint/2010/main" val="46950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93124-3B2B-3FF3-4818-3798CF87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BE704-F08A-C296-5E24-6B1416300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404" y="914400"/>
            <a:ext cx="8945593" cy="948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Glass vs PbWO4(2000 Events)</a:t>
            </a:r>
          </a:p>
        </p:txBody>
      </p:sp>
      <p:pic>
        <p:nvPicPr>
          <p:cNvPr id="8" name="Picture 7" descr="A graph of a number of scintillation&#10;&#10;AI-generated content may be incorrect.">
            <a:extLst>
              <a:ext uri="{FF2B5EF4-FFF2-40B4-BE49-F238E27FC236}">
                <a16:creationId xmlns:a16="http://schemas.microsoft.com/office/drawing/2014/main" id="{2FC827C6-A908-BEAD-FB6A-FD60B9831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98" y="2062003"/>
            <a:ext cx="5954005" cy="4158916"/>
          </a:xfrm>
          <a:prstGeom prst="rect">
            <a:avLst/>
          </a:prstGeom>
        </p:spPr>
      </p:pic>
      <p:pic>
        <p:nvPicPr>
          <p:cNvPr id="5" name="Picture 4" descr="A graph of a number of signals&#10;&#10;AI-generated content may be incorrect.">
            <a:extLst>
              <a:ext uri="{FF2B5EF4-FFF2-40B4-BE49-F238E27FC236}">
                <a16:creationId xmlns:a16="http://schemas.microsoft.com/office/drawing/2014/main" id="{373D0023-F0FD-9B4F-C5F4-21C691173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853" y="2062003"/>
            <a:ext cx="5954005" cy="415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12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D6B1D-DEBA-298F-6091-A708BCC4E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C9EB0-7AB8-38BF-5197-FE8B52B2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404" y="914400"/>
            <a:ext cx="8945593" cy="948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Glass vs PbWO4(2000 Events)</a:t>
            </a:r>
          </a:p>
        </p:txBody>
      </p:sp>
      <p:pic>
        <p:nvPicPr>
          <p:cNvPr id="4" name="Picture 3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73D96D93-9A15-693B-E867-661AD19C4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894" y="1714879"/>
            <a:ext cx="6096000" cy="43805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B22720-6191-3A3B-B62F-E7D735F314D7}"/>
              </a:ext>
            </a:extLst>
          </p:cNvPr>
          <p:cNvSpPr txBox="1"/>
          <p:nvPr/>
        </p:nvSpPr>
        <p:spPr>
          <a:xfrm>
            <a:off x="1892524" y="6366832"/>
            <a:ext cx="271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Readout Correction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585B9-CCAA-CE8C-A7C6-B5FAE88692B7}"/>
              </a:ext>
            </a:extLst>
          </p:cNvPr>
          <p:cNvSpPr txBox="1"/>
          <p:nvPr/>
        </p:nvSpPr>
        <p:spPr>
          <a:xfrm>
            <a:off x="6818699" y="6053836"/>
            <a:ext cx="5144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effectLst/>
                <a:latin typeface="CMR10"/>
              </a:rPr>
              <a:t>Cherenkov versus scintillation signal for calorimeters </a:t>
            </a:r>
            <a:endParaRPr lang="en-US" dirty="0"/>
          </a:p>
        </p:txBody>
      </p:sp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05122DC9-C157-C760-CE29-0004C31F3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07" y="1836442"/>
            <a:ext cx="5867184" cy="421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37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F3AF5-75B7-4252-4377-3982E6DF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CEE544-2069-9E5E-8550-D659FBF3C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DE25B78-7938-E49D-0FE2-04A7BD973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EB01D-73BF-54D0-4515-CF407EBB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dirty="0"/>
              <a:t>Master vs V1.0.0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460DF0-9645-DB25-DE57-D44D905CC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of a number of cerenkov&#10;&#10;AI-generated content may be incorrect.">
            <a:extLst>
              <a:ext uri="{FF2B5EF4-FFF2-40B4-BE49-F238E27FC236}">
                <a16:creationId xmlns:a16="http://schemas.microsoft.com/office/drawing/2014/main" id="{096D7DC4-9200-E9FE-149D-1FE9F7954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2" y="2556080"/>
            <a:ext cx="5965165" cy="4045342"/>
          </a:xfrm>
          <a:prstGeom prst="rect">
            <a:avLst/>
          </a:prstGeom>
        </p:spPr>
      </p:pic>
      <p:pic>
        <p:nvPicPr>
          <p:cNvPr id="7" name="Picture 6" descr="A graph with numbers and a box&#10;&#10;AI-generated content may be incorrect.">
            <a:extLst>
              <a:ext uri="{FF2B5EF4-FFF2-40B4-BE49-F238E27FC236}">
                <a16:creationId xmlns:a16="http://schemas.microsoft.com/office/drawing/2014/main" id="{8B3EEDB9-712D-299E-0FDC-E3A192DB0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490" y="2460134"/>
            <a:ext cx="6127715" cy="415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02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1D938-0267-4D0A-B067-155A2CE7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3BA6D0-53AB-C389-A214-93BD26EAB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1218FCC-AB70-E739-D209-048DA591A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48A1C-8F60-A604-17A1-61C97D56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/>
              <a:t>Master vs V1.0.0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C64F63-3A5C-3D5E-3E81-10A7DF9A3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1F1460C1-A276-3D4C-859A-AA6A62CDA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3" y="2455876"/>
            <a:ext cx="5675559" cy="3854176"/>
          </a:xfrm>
          <a:prstGeom prst="rect">
            <a:avLst/>
          </a:prstGeom>
        </p:spPr>
      </p:pic>
      <p:pic>
        <p:nvPicPr>
          <p:cNvPr id="8" name="Picture 7" descr="A graph with green dots&#10;&#10;AI-generated content may be incorrect.">
            <a:extLst>
              <a:ext uri="{FF2B5EF4-FFF2-40B4-BE49-F238E27FC236}">
                <a16:creationId xmlns:a16="http://schemas.microsoft.com/office/drawing/2014/main" id="{761C13EB-BB84-362B-6DB8-D1088EBFC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588" y="2481982"/>
            <a:ext cx="6348412" cy="382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6331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216</Words>
  <Application>Microsoft Macintosh PowerPoint</Application>
  <PresentationFormat>Widescreen</PresentationFormat>
  <Paragraphs>32</Paragraphs>
  <Slides>16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CMR10</vt:lpstr>
      <vt:lpstr>Grandview Display</vt:lpstr>
      <vt:lpstr>DashVTI</vt:lpstr>
      <vt:lpstr>Standalone simulations (Glass Simulations)</vt:lpstr>
      <vt:lpstr>PowerPoint Presentation</vt:lpstr>
      <vt:lpstr>Master vs V1.0.0</vt:lpstr>
      <vt:lpstr>Master vs V1.0.0</vt:lpstr>
      <vt:lpstr>Master vs V1.0.0  </vt:lpstr>
      <vt:lpstr>Master vs V1.0.0</vt:lpstr>
      <vt:lpstr>Master vs V1.0.0 </vt:lpstr>
      <vt:lpstr>Simulations studies for Glass</vt:lpstr>
      <vt:lpstr>Simulations vs 2501.15329v3 </vt:lpstr>
      <vt:lpstr>Simulations vs 2501.15329v3</vt:lpstr>
      <vt:lpstr>Glass vs PbWO4(2000 Events)</vt:lpstr>
      <vt:lpstr>Glass vs PbWO4(2000 Events)</vt:lpstr>
      <vt:lpstr>Glass vs PbWO4(2000 Events)</vt:lpstr>
      <vt:lpstr>Glass vs PbWO4(2000 Events)</vt:lpstr>
      <vt:lpstr>Master vs V1.0.0 </vt:lpstr>
      <vt:lpstr>Master vs V1.0.0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Singhal</dc:creator>
  <cp:lastModifiedBy>Bhavya Singhal</cp:lastModifiedBy>
  <cp:revision>3</cp:revision>
  <dcterms:created xsi:type="dcterms:W3CDTF">2025-05-02T05:30:52Z</dcterms:created>
  <dcterms:modified xsi:type="dcterms:W3CDTF">2025-05-09T21:17:36Z</dcterms:modified>
</cp:coreProperties>
</file>